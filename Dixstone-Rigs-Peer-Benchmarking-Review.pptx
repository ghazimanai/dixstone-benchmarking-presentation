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Dixstone Rigs Peer Benchmarking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Consultants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Sigma Energy team.</a:t>
            </a:r>
          </a:p>
          <a:p>
            <a:pPr>
              <a:defRPr sz="1400"/>
            </a:pPr>
            <a:r>
              <a:t>• Ghazi Manai</a:t>
            </a:r>
          </a:p>
          <a:p>
            <a:pPr>
              <a:defRPr sz="1400"/>
            </a:pPr>
            <a:r>
              <a:t>• Adolph Colaco</a:t>
            </a:r>
          </a:p>
          <a:p>
            <a:pPr>
              <a:defRPr sz="1400"/>
            </a:pPr>
            <a:r>
              <a:t>• 18 years in the rigs business</a:t>
            </a:r>
          </a:p>
          <a:p>
            <a:pPr>
              <a:defRPr sz="1400"/>
            </a:pPr>
            <a:r>
              <a:t>• Projects, Maintenance, Assets, Supply Chain &amp; Audits</a:t>
            </a:r>
          </a:p>
          <a:p>
            <a:pPr>
              <a:defRPr sz="1400"/>
            </a:pPr>
            <a:r>
              <a:t>• Weatherford Drilling, Lamprell Energy, Sigma Energy</a:t>
            </a:r>
          </a:p>
          <a:p>
            <a:pPr>
              <a:defRPr sz="1400"/>
            </a:pPr>
            <a:r>
              <a:t>• 15 years in the rigs business</a:t>
            </a:r>
          </a:p>
          <a:p>
            <a:pPr>
              <a:defRPr sz="1400"/>
            </a:pPr>
            <a:r>
              <a:t>• Supply Chain, Logistics, Inventory Management</a:t>
            </a:r>
          </a:p>
          <a:p>
            <a:pPr>
              <a:defRPr sz="1400"/>
            </a:pPr>
            <a:r>
              <a:t>• Global Director at Transocean &amp; Vice President at Weatherford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What we’ll cover today.</a:t>
            </a:r>
          </a:p>
          <a:p>
            <a:pPr>
              <a:defRPr sz="1400"/>
            </a:pPr>
            <a:r>
              <a:t>• How we benchmarked</a:t>
            </a:r>
          </a:p>
          <a:p>
            <a:pPr>
              <a:defRPr sz="1400"/>
            </a:pPr>
            <a:r>
              <a:t>• What we saw — and what the numbers say</a:t>
            </a:r>
          </a:p>
          <a:p>
            <a:pPr>
              <a:defRPr sz="1400"/>
            </a:pPr>
            <a:r>
              <a:t>• How Dixstone compares</a:t>
            </a:r>
          </a:p>
          <a:p>
            <a:pPr>
              <a:defRPr sz="1400"/>
            </a:pPr>
            <a:r>
              <a:t>• What we’d 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We started from the rigs — 6 steps from on-site findings to recommendations.</a:t>
            </a:r>
          </a:p>
          <a:p>
            <a:pPr>
              <a:defRPr sz="1400"/>
            </a:pPr>
            <a:r>
              <a:t>• 3 rigs &amp; 3 central warehouses</a:t>
            </a:r>
          </a:p>
          <a:p>
            <a:pPr>
              <a:defRPr sz="1400"/>
            </a:pPr>
            <a:r>
              <a:t>• From SAP, drilling team &amp; HQ</a:t>
            </a:r>
          </a:p>
          <a:p>
            <a:pPr>
              <a:defRPr sz="1400"/>
            </a:pPr>
            <a:r>
              <a:t>• Score Dixstone across functions</a:t>
            </a:r>
          </a:p>
          <a:p>
            <a:pPr>
              <a:defRPr sz="1400"/>
            </a:pPr>
            <a:r>
              <a:t>• Vs. peers</a:t>
            </a:r>
          </a:p>
          <a:p>
            <a:pPr>
              <a:defRPr sz="1400"/>
            </a:pPr>
            <a:r>
              <a:t>• With the Dixstone team</a:t>
            </a:r>
          </a:p>
          <a:p>
            <a:pPr>
              <a:defRPr sz="1400"/>
            </a:pPr>
            <a:r>
              <a:t>• Reduce cost &amp; improve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Phase 1 · Internal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Internal Diagnostics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1.1 · Rig-Site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Rig-Site Findings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Root Cause · On-Site Surveys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Rig-site findings are foundational to issues facing the business.</a:t>
            </a:r>
          </a:p>
          <a:p>
            <a:pPr>
              <a:defRPr sz="1400"/>
            </a:pPr>
            <a:r>
              <a:t>• Overflowing warehouses</a:t>
            </a:r>
          </a:p>
          <a:p>
            <a:pPr>
              <a:defRPr sz="1400"/>
            </a:pPr>
            <a:r>
              <a:t>• Several rig warehouses poorly managed</a:t>
            </a:r>
          </a:p>
          <a:p>
            <a:pPr>
              <a:defRPr sz="1400"/>
            </a:pPr>
            <a:r>
              <a:t>• Lack of processes and discipline</a:t>
            </a:r>
          </a:p>
          <a:p>
            <a:pPr>
              <a:defRPr sz="1400"/>
            </a:pPr>
            <a:r>
              <a:t>• Complete MR to PO process not in SAP</a:t>
            </a:r>
          </a:p>
          <a:p>
            <a:pPr>
              <a:defRPr sz="1400"/>
            </a:pPr>
            <a:r>
              <a:t>• Many PM tasks overdue &amp; fluctuating quality</a:t>
            </a:r>
          </a:p>
          <a:p>
            <a:pPr>
              <a:defRPr sz="1400"/>
            </a:pPr>
            <a:r>
              <a:t>• PM tracking scattered between SAP / MM10 / Excel</a:t>
            </a:r>
          </a:p>
          <a:p>
            <a:pPr>
              <a:defRPr sz="1400"/>
            </a:pPr>
            <a:r>
              <a:t>• Incomplete asset registers</a:t>
            </a:r>
          </a:p>
          <a:p>
            <a:pPr>
              <a:defRPr sz="1400"/>
            </a:pPr>
            <a:r>
              <a:t>• Several major equipment Cat IV overdue</a:t>
            </a:r>
          </a:p>
          <a:p>
            <a:pPr>
              <a:defRPr sz="1400"/>
            </a:pPr>
            <a:r>
              <a:t>• No well-defined supply chain and material management processes</a:t>
            </a:r>
          </a:p>
          <a:p>
            <a:pPr>
              <a:defRPr sz="1400"/>
            </a:pPr>
            <a:r>
              <a:t>• Personnel lack training on company processes and systems</a:t>
            </a:r>
          </a:p>
          <a:p>
            <a:pPr>
              <a:defRPr sz="1400"/>
            </a:pPr>
            <a:r>
              <a:t>• Key areas such as Inventory, Warehouse &amp; Asset Management lack focus</a:t>
            </a:r>
          </a:p>
          <a:p>
            <a:pPr>
              <a:defRPr sz="1400"/>
            </a:pPr>
            <a:r>
              <a:t>• Rig personnel not consistently using systems to execute transactions</a:t>
            </a:r>
          </a:p>
          <a:p>
            <a:pPr>
              <a:defRPr sz="1400"/>
            </a:pPr>
            <a:r>
              <a:t>• Transactions not recorded in time — incomplete data in ERP and PM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1.2 · Desktop Review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Desktop Review Findings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Data Foundation ·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Data inconsistent, incomplete &amp; scattered — limited visibility for data-driven decisions .</a:t>
            </a:r>
          </a:p>
          <a:p>
            <a:pPr>
              <a:defRPr sz="1400"/>
            </a:pPr>
            <a:r>
              <a:t>• Multiple disconnected platforms.</a:t>
            </a:r>
          </a:p>
          <a:p>
            <a:pPr>
              <a:defRPr sz="1400"/>
            </a:pPr>
            <a:r>
              <a:t>• Historical data across 2 SAP environments.</a:t>
            </a:r>
          </a:p>
          <a:p>
            <a:pPr>
              <a:defRPr sz="1400"/>
            </a:pPr>
            <a:r>
              <a:t>• SAP extracts missing critical fields.</a:t>
            </a:r>
          </a:p>
          <a:p>
            <a:pPr>
              <a:defRPr sz="1400"/>
            </a:pPr>
            <a:r>
              <a:t>• Poor movement history.</a:t>
            </a:r>
          </a:p>
          <a:p>
            <a:pPr>
              <a:defRPr sz="1400"/>
            </a:pPr>
            <a:r>
              <a:t>• No dashboards (rig manager, supply chain…).</a:t>
            </a:r>
          </a:p>
          <a:p>
            <a:pPr>
              <a:defRPr sz="1400"/>
            </a:pPr>
            <a:r>
              <a:t>• Rig managers track POs manually.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Procurement vs Consumption · FY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5 of 6 rigs ordered more than they consumed — over-ordering = growing inventory.</a:t>
            </a:r>
          </a:p>
          <a:p>
            <a:pPr>
              <a:defRPr sz="1400"/>
            </a:pPr>
            <a:r>
              <a:t>• Disclaimer · Values based on partial mapping of unit prices from PO history, as complete data was not available. Stated numbers are therefore directional.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Inventory · Levels, Brackets &amp; Dead Stock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The fleet carries ~4× recommended inventory — 56% of it dead stock .</a:t>
            </a:r>
          </a:p>
          <a:p>
            <a:pPr>
              <a:defRPr sz="1400"/>
            </a:pPr>
            <a:r>
              <a:t>• Inventory value only partially valorised</a:t>
            </a:r>
          </a:p>
          <a:p>
            <a:pPr>
              <a:defRPr sz="1400"/>
            </a:pPr>
            <a:r>
              <a:t>• Some rigs came with legacy purchased inventory</a:t>
            </a:r>
          </a:p>
          <a:p>
            <a:pPr>
              <a:defRPr sz="1400"/>
            </a:pPr>
            <a:r>
              <a:t>• Dead stock (no movement &gt;3 years) Active + Dormant (≤3 years) Best-practice mark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Causal Chain · Cert → NPT → OPEX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Out-of-cert equipment contributes to elevated NPT — and inflates the spend.</a:t>
            </a:r>
          </a:p>
          <a:p>
            <a:pPr>
              <a:defRPr sz="1400"/>
            </a:pPr>
            <a:r>
              <a:t>• No standard EQT-certification tracker; EQT out of certification.</a:t>
            </a:r>
          </a:p>
          <a:p>
            <a:pPr>
              <a:defRPr sz="1400"/>
            </a:pPr>
            <a:r>
              <a:t>• PMs not per OEM, fluctuating quality, and not accurately recorded in the data.</a:t>
            </a:r>
          </a:p>
          <a:p>
            <a:pPr>
              <a:defRPr sz="1400"/>
            </a:pPr>
            <a:r>
              <a:t>• Failures shift onto NPT and spare-parts.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Workforce · Manning vs Peers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Manning — jackups near peer, land rigs well above.</a:t>
            </a:r>
          </a:p>
          <a:p>
            <a:pPr>
              <a:defRPr sz="1400"/>
            </a:pPr>
            <a:r>
              <a:t>• Slightly — chargeback personnel to Perenco.</a:t>
            </a:r>
          </a:p>
          <a:p>
            <a:pPr>
              <a:defRPr sz="1400"/>
            </a:pPr>
            <a:r>
              <a:t>• Clearly overmanned.</a:t>
            </a:r>
          </a:p>
          <a:p>
            <a:pPr>
              <a:defRPr sz="1400"/>
            </a:pPr>
            <a:r>
              <a:t>• 2 bars per rig: peer benchmark (lighter) and actual crew (longer). Same POB scale across all rigs; the visible gap between the two bars is the overmanning.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HQ Support · Below Peers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HQ &amp; country support is ~14% below peers.</a:t>
            </a:r>
          </a:p>
          <a:p>
            <a:pPr>
              <a:defRPr sz="1400"/>
            </a:pPr>
            <a:r>
              <a:t>• Gap concentrated in HQ — Supply Chain, Assets &amp; Maintenance.</a:t>
            </a:r>
          </a:p>
          <a:p>
            <a:pPr>
              <a:defRPr sz="1400"/>
            </a:pPr>
            <a:r>
              <a:t>• Lack of focus negatively impacting these functions — Supply Chain, Assets &amp; Maintenance.</a:t>
            </a:r>
          </a:p>
          <a:p>
            <a:pPr>
              <a:defRPr sz="1400"/>
            </a:pPr>
            <a:r>
              <a:t>• Bring in expertise to support these functions (hiring and/or external).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CAPEX · Peer Intensity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Peer CAPEX as % of revenue — jackups vs land rigs.</a:t>
            </a:r>
          </a:p>
          <a:p>
            <a:pPr>
              <a:defRPr sz="1400"/>
            </a:pPr>
            <a:r>
              <a:t>• CAPEX (drilling contractor) = rig equipment &amp; Cat IV recertification — e.g. top drive, BOP, major equipment repairs. Note: Dixstone CAPEX data was not provided — peer CAPEX as % of revenue shown for reference.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Rig Direct Margin ·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Rig Direct Margin (RDM) — the rig-level profitability lens.</a:t>
            </a:r>
          </a:p>
          <a:p>
            <a:pPr>
              <a:defRPr sz="1400"/>
            </a:pPr>
            <a:r>
              <a:t>• Theoretical revenue − direct rig operating costs.</a:t>
            </a:r>
          </a:p>
          <a:p>
            <a:pPr>
              <a:defRPr sz="1400"/>
            </a:pPr>
            <a:r>
              <a:t>• RDM + OPEX reclassed from CAPEX.</a:t>
            </a:r>
          </a:p>
          <a:p>
            <a:pPr>
              <a:defRPr sz="1400"/>
            </a:pPr>
            <a:r>
              <a:t>• A like-for-like measure of each rig's margin from its own operations, before group-level items.</a:t>
            </a:r>
          </a:p>
          <a:p>
            <a:pPr>
              <a:defRPr sz="1400"/>
            </a:pPr>
            <a:r>
              <a:t>• Direct costs = workforce, spare parts &amp; services (excluding D&amp;A, G&amp;A &amp; corporate).</a:t>
            </a:r>
          </a:p>
          <a:p>
            <a:pPr>
              <a:defRPr sz="1400"/>
            </a:pPr>
            <a:r>
              <a:t>• Adds back operating spend booked as CAPEX.</a:t>
            </a:r>
          </a:p>
          <a:p>
            <a:pPr>
              <a:defRPr sz="1400"/>
            </a:pPr>
            <a:r>
              <a:t>• Billable Operating Days = Operating Days − NPT Days.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Per-Rig Spend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AXIMA, MIDIR and DRAVUS run high on spare parts — land rigs high on manning.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2025 Per-Rig P&amp;L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$53.5M Adjusted Rig Direct Margin — below the 44.8% peer median.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RDM Evolution 2024-2025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Fleet RDM at 33.7% — but rigs range from +41% to −11% — a 52pp gap.</a:t>
            </a:r>
          </a:p>
          <a:p>
            <a:pPr>
              <a:defRPr sz="1400"/>
            </a:pPr>
            <a:r>
              <a:t>• Green = RDM improved 2024 → 2025 · Red = RDM declined. Vertical line marks 0% RDM.</a:t>
            </a:r>
          </a:p>
          <a:p>
            <a:pPr>
              <a:defRPr sz="1400"/>
            </a:pPr>
            <a:r>
              <a:t>• Fleet: 33.2% → 33.7% (+0.5 pp) — headline flat YoY masks the wide rig-level divergence above.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Rig One-Pager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Major Findings ·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Strong jackup, weak land rig performance — over-ordering &amp; excess inventory fleet-wide.</a:t>
            </a:r>
          </a:p>
          <a:p>
            <a:pPr>
              <a:defRPr sz="1400"/>
            </a:pPr>
            <a:r>
              <a:t>• Jackups ~39% RDM — close to peers.</a:t>
            </a:r>
          </a:p>
          <a:p>
            <a:pPr>
              <a:defRPr sz="1400"/>
            </a:pPr>
            <a:r>
              <a:t>• Land rigs ~6% RDM — far below peers.</a:t>
            </a:r>
          </a:p>
          <a:p>
            <a:pPr>
              <a:defRPr sz="1400"/>
            </a:pPr>
            <a:r>
              <a:t>• $45.2M held — ~4× peer median.</a:t>
            </a:r>
          </a:p>
          <a:p>
            <a:pPr>
              <a:defRPr sz="1400"/>
            </a:pPr>
            <a:r>
              <a:t>• 5 rigs ordered more than consumed.</a:t>
            </a:r>
          </a:p>
          <a:p>
            <a:pPr>
              <a:defRPr sz="1400"/>
            </a:pPr>
            <a:r>
              <a:t>• All land rigs overmanned vs peers.</a:t>
            </a:r>
          </a:p>
          <a:p>
            <a:pPr>
              <a:defRPr sz="1400"/>
            </a:pPr>
            <a:r>
              <a:t>• Data, systems and dashboards missing.</a:t>
            </a:r>
          </a:p>
          <a:p>
            <a:pPr>
              <a:defRPr sz="1400"/>
            </a:pPr>
            <a:r>
              <a:t>• ~6 pp below the ~45% jackup peer median.</a:t>
            </a:r>
          </a:p>
          <a:p>
            <a:pPr>
              <a:defRPr sz="1400"/>
            </a:pPr>
            <a:r>
              <a:t>• ~26 pp below the ~33% land peer median.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Phase 2 · External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External Peer Benchmarking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Peer Fleet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The peer set — 9 listed contractors, ~1,200 rigs.</a:t>
            </a:r>
          </a:p>
          <a:p>
            <a:pPr>
              <a:defRPr sz="1400"/>
            </a:pPr>
            <a:r>
              <a:t>• Benchmarked across the full drilling spectrum — global land-rig majors, MENA-anchored blended fleets, and pure jackup contractors.</a:t>
            </a:r>
          </a:p>
          <a:p>
            <a:pPr>
              <a:defRPr sz="1400"/>
            </a:pPr>
            <a:r>
              <a:t>• Subject: Dixstone · 7 rigs (3 jackups, 2 platform, 2 land) · West Africa.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Segment View · Premium Jackup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AXIMA — RDM 7.2pp below peer median, bridgeable via spares + cert/PM.</a:t>
            </a:r>
          </a:p>
          <a:p>
            <a:pPr>
              <a:defRPr sz="1400"/>
            </a:pPr>
            <a:r>
              <a:t>• Premium Jackup peer set: Borr · ADNOC · ADES · Valaris-JU · Velesto 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Segment View · Standard Jackup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BANBA &amp; NUADA — NPT bridges the RDM gap; 3–4× excess inventory.</a:t>
            </a:r>
          </a:p>
          <a:p>
            <a:pPr>
              <a:defRPr sz="1400"/>
            </a:pPr>
            <a:r>
              <a:t>• Standard Jackup peer set: Shelf · Valaris · ADES 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Segment View · Land Rigs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MIDIR &amp; DRAVUS — payroll, expat cost and 6–10× excess inventory drive the gap.</a:t>
            </a:r>
          </a:p>
          <a:p>
            <a:pPr>
              <a:defRPr sz="1400"/>
            </a:pPr>
            <a:r>
              <a:t>• Land peer set: Helmerich &amp; Payne · Nabors · Precision 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Segment View ·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LUG — NPT high vs peers and ~9× excess inventory.</a:t>
            </a:r>
          </a:p>
          <a:p>
            <a:pPr>
              <a:defRPr sz="1400"/>
            </a:pPr>
            <a:r>
              <a:t>• Platform peer set: Helmerich &amp; Payne · Nabors · Precision 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Phase 3 ·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Recommendations &amp; Roadmap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Target State · Our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The Goal — operational &amp; cost efficiency: 44.8% RDM at 2–4% NPT &amp; disciplined daily PO/GR.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Recommendations · Strategic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5 strategic areas, run concurrently — toward one outcome.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You can't improve what you don't measure well — fleet-wide dashboards.</a:t>
            </a:r>
          </a:p>
          <a:p>
            <a:pPr>
              <a:defRPr sz="1400"/>
            </a:pPr>
            <a:r>
              <a:t>• NPT, uptime, utilization, rig move.</a:t>
            </a:r>
          </a:p>
          <a:p>
            <a:pPr>
              <a:defRPr sz="1400"/>
            </a:pPr>
            <a:r>
              <a:t>• PO, PO/GR, issue-out, inventory.</a:t>
            </a:r>
          </a:p>
          <a:p>
            <a:pPr>
              <a:defRPr sz="1400"/>
            </a:pPr>
            <a:r>
              <a:t>• PM overdue, Cat IV overdue.</a:t>
            </a:r>
          </a:p>
          <a:p>
            <a:pPr>
              <a:defRPr sz="1400"/>
            </a:pPr>
            <a:r>
              <a:t>• Manning, competency, training.</a:t>
            </a:r>
          </a:p>
          <a:p>
            <a:pPr>
              <a:defRPr sz="1400"/>
            </a:pPr>
            <a:r>
              <a:t>• LTIR, LTI, near misses, MTC…</a:t>
            </a:r>
          </a:p>
          <a:p>
            <a:pPr>
              <a:defRPr sz="1400"/>
            </a:pPr>
            <a:r>
              <a:t>• Direct P&amp;L, vs last year, vs targets.</a:t>
            </a:r>
          </a:p>
          <a:p>
            <a:pPr>
              <a:defRPr sz="1400"/>
            </a:pPr>
            <a:r>
              <a:t>• Track key metrics across operations, supply chain, equipment, people, HSE and finance — and benchmark continuously against peers and targets.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Data Visualization · KPI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Set the targets — then review them weekly.</a:t>
            </a:r>
          </a:p>
          <a:p>
            <a:pPr>
              <a:defRPr sz="1400"/>
            </a:pPr>
            <a:r>
              <a:t>• NPT</a:t>
            </a:r>
          </a:p>
          <a:p>
            <a:pPr>
              <a:defRPr sz="1400"/>
            </a:pPr>
            <a:r>
              <a:t>• Overdue PM</a:t>
            </a:r>
          </a:p>
          <a:p>
            <a:pPr>
              <a:defRPr sz="1400"/>
            </a:pPr>
            <a:r>
              <a:t>• Overdue Cat IV</a:t>
            </a:r>
          </a:p>
          <a:p>
            <a:pPr>
              <a:defRPr sz="1400"/>
            </a:pPr>
            <a:r>
              <a:t>• Daily average spending limit</a:t>
            </a:r>
          </a:p>
          <a:p>
            <a:pPr>
              <a:defRPr sz="1400"/>
            </a:pPr>
            <a:r>
              <a:t>• Inventory on rig</a:t>
            </a:r>
          </a:p>
          <a:p>
            <a:pPr>
              <a:defRPr sz="1400"/>
            </a:pPr>
            <a:r>
              <a:t>• Min/max compliance</a:t>
            </a:r>
          </a:p>
          <a:p>
            <a:pPr>
              <a:defRPr sz="1400"/>
            </a:pPr>
            <a:r>
              <a:t>• Competency &amp; training</a:t>
            </a:r>
          </a:p>
          <a:p>
            <a:pPr>
              <a:defRPr sz="1400"/>
            </a:pPr>
            <a:r>
              <a:t>• Rig dashboard</a:t>
            </a:r>
          </a:p>
          <a:p>
            <a:pPr>
              <a:defRPr sz="1400"/>
            </a:pPr>
            <a:r>
              <a:t>• Compare to target</a:t>
            </a:r>
          </a:p>
          <a:p>
            <a:pPr>
              <a:defRPr sz="1400"/>
            </a:pPr>
            <a:r>
              <a:t>• Compare rig to rig</a:t>
            </a:r>
          </a:p>
          <a:p>
            <a:pPr>
              <a:defRPr sz="1400"/>
            </a:pPr>
            <a:r>
              <a:t>• Discuss deviations &amp; remedial actions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Sample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A working sample — see the dashboards in action.</a:t>
            </a:r>
          </a:p>
          <a:p>
            <a:pPr>
              <a:defRPr sz="1400"/>
            </a:pPr>
            <a:r>
              <a:t>• A live, interactive sample of the fleet dashboards, built on Dixstone data — operations, supply chain, equipment, people, HSE and finance in one view.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Standardize supply-chain operating model — streamlined processes, clean inventory, disciplined ordering.</a:t>
            </a:r>
          </a:p>
          <a:p>
            <a:pPr>
              <a:defRPr sz="1400"/>
            </a:pPr>
            <a:r>
              <a:t>• Define and streamline the processes.</a:t>
            </a:r>
          </a:p>
          <a:p>
            <a:pPr>
              <a:defRPr sz="1400"/>
            </a:pPr>
            <a:r>
              <a:t>• Reset every warehouse, end to end.</a:t>
            </a:r>
          </a:p>
          <a:p>
            <a:pPr>
              <a:defRPr sz="1400"/>
            </a:pPr>
            <a:r>
              <a:t>• Issue-out discipline and min/max control.</a:t>
            </a:r>
          </a:p>
          <a:p>
            <a:pPr>
              <a:defRPr sz="1400"/>
            </a:pPr>
            <a:r>
              <a:t>• Run the full cycle in SAP — with values.</a:t>
            </a:r>
          </a:p>
          <a:p>
            <a:pPr>
              <a:defRPr sz="1400"/>
            </a:pPr>
            <a:r>
              <a:t>• Bring in supply-chain management support.</a:t>
            </a:r>
          </a:p>
          <a:p>
            <a:pPr>
              <a:defRPr sz="1400"/>
            </a:pPr>
            <a:r>
              <a:t>• Train the supply-chain team.</a:t>
            </a:r>
          </a:p>
          <a:p>
            <a:pPr>
              <a:defRPr sz="1400"/>
            </a:pPr>
            <a:r>
              <a:t>• Develop SC processes &amp; procedures</a:t>
            </a:r>
          </a:p>
          <a:p>
            <a:pPr>
              <a:defRPr sz="1400"/>
            </a:pPr>
            <a:r>
              <a:t>• Standardize MR, PO, GR, issue-out, transfers &amp; master-data</a:t>
            </a:r>
          </a:p>
          <a:p>
            <a:pPr>
              <a:defRPr sz="1400"/>
            </a:pPr>
            <a:r>
              <a:t>• Classify inventory vs non-inventory / capital items</a:t>
            </a:r>
          </a:p>
          <a:p>
            <a:pPr>
              <a:defRPr sz="1400"/>
            </a:pPr>
            <a:r>
              <a:t>• Wall-to-wall physical count</a:t>
            </a:r>
          </a:p>
          <a:p>
            <a:pPr>
              <a:defRPr sz="1400"/>
            </a:pPr>
            <a:r>
              <a:t>• Move dead stock to CWHs</a:t>
            </a:r>
          </a:p>
          <a:p>
            <a:pPr>
              <a:defRPr sz="1400"/>
            </a:pPr>
            <a:r>
              <a:t>• Re-label &amp; SAP-ID tag every part</a:t>
            </a:r>
          </a:p>
          <a:p>
            <a:pPr>
              <a:defRPr sz="1400"/>
            </a:pPr>
            <a:r>
              <a:t>• Log every issue-out in SAP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Equipment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Preventive maintenance &amp; certification — reduce NPT, keep equipment in cycle.</a:t>
            </a:r>
          </a:p>
          <a:p>
            <a:pPr>
              <a:defRPr sz="1400"/>
            </a:pPr>
            <a:r>
              <a:t>• All rigs on the same CMMS.</a:t>
            </a:r>
          </a:p>
          <a:p>
            <a:pPr>
              <a:defRPr sz="1400"/>
            </a:pPr>
            <a:r>
              <a:t>• OEM-based tasks with recordables &amp; measurables.</a:t>
            </a:r>
          </a:p>
          <a:p>
            <a:pPr>
              <a:defRPr sz="1400"/>
            </a:pPr>
            <a:r>
              <a:t>• Shift from fire-fighting to managed PM.</a:t>
            </a:r>
          </a:p>
          <a:p>
            <a:pPr>
              <a:defRPr sz="1400"/>
            </a:pPr>
            <a:r>
              <a:t>• Updated register &amp; Cat III/IV tracker.</a:t>
            </a:r>
          </a:p>
          <a:p>
            <a:pPr>
              <a:defRPr sz="1400"/>
            </a:pPr>
            <a:r>
              <a:t>• One preventive-maintenance system across the fleet, holding the complete equipment &amp; PM history .</a:t>
            </a:r>
          </a:p>
          <a:p>
            <a:pPr>
              <a:defRPr sz="1400"/>
            </a:pPr>
            <a:r>
              <a:t>• Replace free-text fields with structured recordables &amp; measurables per OEM instructions ; link every PM to its correct asset.</a:t>
            </a:r>
          </a:p>
          <a:p>
            <a:pPr>
              <a:defRPr sz="1400"/>
            </a:pPr>
            <a:r>
              <a:t>• Oversee overdue PM tasks ; weekly review cadence; PM-compliance KPIs in the dashboard.</a:t>
            </a:r>
          </a:p>
          <a:p>
            <a:pPr>
              <a:defRPr sz="1400"/>
            </a:pPr>
            <a:r>
              <a:t>• Keep the asset register &amp; transfers updated and a Cat III/IV certification tracker ; introduce a dedicated Asset Manager position 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Right competencies, right manning — at rigs and HQ.</a:t>
            </a:r>
          </a:p>
          <a:p>
            <a:pPr>
              <a:defRPr sz="1400"/>
            </a:pPr>
            <a:r>
              <a:t>• Strengthen competency &amp; training matrices (equipment, supply chain).</a:t>
            </a:r>
          </a:p>
          <a:p>
            <a:pPr>
              <a:defRPr sz="1400"/>
            </a:pPr>
            <a:r>
              <a:t>• Strengthen HQ competencies &amp; headcount.</a:t>
            </a:r>
          </a:p>
          <a:p>
            <a:pPr>
              <a:defRPr sz="1400"/>
            </a:pPr>
            <a:r>
              <a:t>• Right-size land-rig crews to peer norms.</a:t>
            </a:r>
          </a:p>
          <a:p>
            <a:pPr>
              <a:defRPr sz="1400"/>
            </a:pPr>
            <a:r>
              <a:t>• Drilling supply chain manager</a:t>
            </a:r>
          </a:p>
          <a:p>
            <a:pPr>
              <a:defRPr sz="1400"/>
            </a:pPr>
            <a:r>
              <a:t>• Drilling asset manager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Land Rigs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MIDIR &amp; DRAVUS need a complete business-model review .</a:t>
            </a:r>
          </a:p>
          <a:p>
            <a:pPr>
              <a:defRPr sz="1400"/>
            </a:pPr>
            <a:r>
              <a:t>• Review manning &amp; POB vs land-rig norms</a:t>
            </a:r>
          </a:p>
          <a:p>
            <a:pPr>
              <a:defRPr sz="1400"/>
            </a:pPr>
            <a:r>
              <a:t>• Review workforce cost structure — exceeding 50% of theoretical revenue</a:t>
            </a:r>
          </a:p>
          <a:p>
            <a:pPr>
              <a:defRPr sz="1400"/>
            </a:pPr>
            <a:r>
              <a:t>• Review rig spec, sizing &amp; capabilities</a:t>
            </a:r>
          </a:p>
          <a:p>
            <a:pPr>
              <a:defRPr sz="1400"/>
            </a:pPr>
            <a:r>
              <a:t>• Review CAPEX strategy</a:t>
            </a:r>
          </a:p>
          <a:p>
            <a:pPr>
              <a:defRPr sz="1400"/>
            </a:pPr>
            <a:r>
              <a:t>• Upgrade to a more competitive spec</a:t>
            </a:r>
          </a:p>
          <a:p>
            <a:pPr>
              <a:defRPr sz="1400"/>
            </a:pPr>
            <a:r>
              <a:t>• Re-deploy to better-fit work</a:t>
            </a:r>
          </a:p>
          <a:p>
            <a:pPr>
              <a:defRPr sz="1400"/>
            </a:pPr>
            <a:r>
              <a:t>• Restructure crew model — expat ratio &amp; rotation</a:t>
            </a:r>
          </a:p>
          <a:p>
            <a:pPr>
              <a:defRPr sz="1400"/>
            </a:pPr>
            <a:r>
              <a:t>• Re-base the cost structure to land-rig norms</a:t>
            </a:r>
          </a:p>
          <a:p>
            <a:pPr>
              <a:defRPr sz="1400"/>
            </a:pPr>
            <a:r>
              <a:t>• MIDIR is loss-making and DRAVUS sub-par despite peer-level CAPEX — the gap merits a full business-model review, not line-by-line trims.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AOI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From diagnostics to delivery — capture value fast, then lock it in.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Open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